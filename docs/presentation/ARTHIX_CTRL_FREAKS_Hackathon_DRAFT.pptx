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iacode.nic.in/handle/123456789/22037?locale=en" TargetMode="External"/><Relationship Id="rId3" Type="http://schemas.openxmlformats.org/officeDocument/2006/relationships/hyperlink" Target="https://www.rbi.org.in/Scripts/BS_ViewMasDirections.aspx?id=10598" TargetMode="External"/><Relationship Id="rId4" Type="http://schemas.openxmlformats.org/officeDocument/2006/relationships/hyperlink" Target="https://www.rbi.org.in/Scripts/NotificationUser.aspx?Id=12382&amp;Mode=0" TargetMode="External"/><Relationship Id="rId5" Type="http://schemas.openxmlformats.org/officeDocument/2006/relationships/hyperlink" Target="https://www.rbi.org.in/Scripts/BS_PressReleaseDisplay.aspx?prid=60403" TargetMode="External"/><Relationship Id="rId6" Type="http://schemas.openxmlformats.org/officeDocument/2006/relationships/hyperlink" Target="https://www.sebi.gov.in/" TargetMode="External"/><Relationship Id="rId7" Type="http://schemas.openxmlformats.org/officeDocument/2006/relationships/hyperlink" Target="https://www.rbi.org.in/" TargetMode="External"/><Relationship Id="rId8" Type="http://schemas.openxmlformats.org/officeDocument/2006/relationships/hyperlink" Target="https://nextjs.org/docs" TargetMode="External"/><Relationship Id="rId9" Type="http://schemas.openxmlformats.org/officeDocument/2006/relationships/hyperlink" Target="https://expressjs.com/" TargetMode="External"/><Relationship Id="rId10" Type="http://schemas.openxmlformats.org/officeDocument/2006/relationships/hyperlink" Target="https://github.com/WiseLibs/better-sqlite3" TargetMode="External"/><Relationship Id="rId11" Type="http://schemas.openxmlformats.org/officeDocument/2006/relationships/hyperlink" Target="https://tailwindcss.com/docs" TargetMode="External"/><Relationship Id="rId12" Type="http://schemas.openxmlformats.org/officeDocument/2006/relationships/hyperlink" Target="https://github.com/AumPethani05/Arthix" TargetMode="External"/><Relationship Id="rId1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" y="237744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5603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8A"/>
                </a:solidFill>
                <a:latin typeface="Calibri"/>
                <a:ea typeface="Calibri"/>
              </a:rPr>
              <a:t>HACKATHON MVP  · 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37744"/>
            <a:ext cx="4434840" cy="23774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256032"/>
            <a:ext cx="4434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2410C"/>
                </a:solidFill>
                <a:latin typeface="Calibri"/>
                <a:ea typeface="Calibri"/>
              </a:rPr>
              <a:t>THEME  ·  DIGITAL TRANSFORMATION IN LENDING</a:t>
            </a:r>
          </a:p>
        </p:txBody>
      </p:sp>
      <p:pic>
        <p:nvPicPr>
          <p:cNvPr id="8" name="Picture 7" descr="arthix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603504"/>
            <a:ext cx="42062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6217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132B"/>
                </a:solidFill>
                <a:latin typeface="Calibri"/>
                <a:ea typeface="Calibri"/>
              </a:rPr>
              <a:t>ARTHIX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96926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  <a:ea typeface="Calibri"/>
              </a:rPr>
              <a:t>BHARAT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225296"/>
            <a:ext cx="8046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2800" b="1" i="0">
                <a:solidFill>
                  <a:srgbClr val="08132B"/>
                </a:solidFill>
                <a:latin typeface="Calibri"/>
                <a:ea typeface="Calibri"/>
              </a:rPr>
              <a:t>The right product.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2800" b="1" i="0">
                <a:solidFill>
                  <a:srgbClr val="08132B"/>
                </a:solidFill>
                <a:latin typeface="Calibri"/>
                <a:ea typeface="Calibri"/>
              </a:rPr>
              <a:t>The right moment.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2800" b="1" i="0">
                <a:solidFill>
                  <a:srgbClr val="0F766E"/>
                </a:solidFill>
                <a:latin typeface="Calibri"/>
                <a:ea typeface="Calibri"/>
              </a:rPr>
              <a:t>Or no product at 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35915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  <a:ea typeface="Calibri"/>
              </a:rPr>
              <a:t>An AI-powered hyper-personalized banking intelligence layer for Bharat —
not a new bank, and not a chatbot that always sells.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816352"/>
            <a:ext cx="7955279" cy="658368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852928"/>
            <a:ext cx="7626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  <a:ea typeface="Calibri"/>
              </a:rPr>
              <a:t>PROBLEM STATEMENT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035808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32B"/>
                </a:solidFill>
                <a:latin typeface="Calibri"/>
                <a:ea typeface="Calibri"/>
              </a:rPr>
              <a:t>Arthix | AI-Powered Hyper-Personalized Banking for Bharat | Ctrl Freaks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584448"/>
            <a:ext cx="795527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3639312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  <a:ea typeface="Calibri"/>
              </a:rPr>
              <a:t>TEAM NAME  (REGISTERED ON PORTAL)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80390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132B"/>
                </a:solidFill>
                <a:latin typeface="Calibri"/>
                <a:ea typeface="Calibri"/>
              </a:rPr>
              <a:t>CTRL FREAKS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82219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D4ED8"/>
                </a:solidFill>
                <a:latin typeface="Calibri"/>
                <a:ea typeface="Calibri"/>
              </a:rPr>
              <a:t>Personalization as a
fiduciary 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4425696"/>
            <a:ext cx="1901952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4425696"/>
            <a:ext cx="64008" cy="19385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4535424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  <a:ea typeface="Calibri"/>
              </a:rPr>
              <a:t>PROBLEM STATEMENT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4901184"/>
            <a:ext cx="170078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32B"/>
                </a:solidFill>
                <a:latin typeface="Calibri"/>
                <a:ea typeface="Calibri"/>
              </a:rPr>
              <a:t>To be confirmed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50592" y="4425696"/>
            <a:ext cx="1901952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592" y="4425696"/>
            <a:ext cx="64008" cy="193852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6896" y="4535424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  <a:ea typeface="Calibri"/>
              </a:rPr>
              <a:t>THEME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4901184"/>
            <a:ext cx="170078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32B"/>
                </a:solidFill>
                <a:latin typeface="Calibri"/>
                <a:ea typeface="Calibri"/>
              </a:rPr>
              <a:t>Digital Transformation in Lending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4425696"/>
            <a:ext cx="1901952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62272" y="4425696"/>
            <a:ext cx="64008" cy="19385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8576" y="4535424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  <a:ea typeface="Calibri"/>
              </a:rPr>
              <a:t>PS 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4901184"/>
            <a:ext cx="170078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32B"/>
                </a:solidFill>
                <a:latin typeface="Calibri"/>
                <a:ea typeface="Calibri"/>
              </a:rPr>
              <a:t>Software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4425696"/>
            <a:ext cx="1901952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73952" y="4425696"/>
            <a:ext cx="64008" cy="19385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0256" y="4535424"/>
            <a:ext cx="1700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  <a:ea typeface="Calibri"/>
              </a:rPr>
              <a:t>TEAM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0256" y="4901184"/>
            <a:ext cx="170078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132B"/>
                </a:solidFill>
                <a:latin typeface="Calibri"/>
                <a:ea typeface="Calibri"/>
              </a:rPr>
              <a:t>To be confirmed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8512" y="201168"/>
            <a:ext cx="3218688" cy="6327648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87968" y="32918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THE DECISION SPINE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7968" y="5303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8132B"/>
                </a:solidFill>
                <a:latin typeface="Calibri"/>
                <a:ea typeface="Calibri"/>
              </a:rPr>
              <a:t>Vivek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8" y="8778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Recommend  ·  Assist First
Suppress  ·  Verify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51392" y="1389888"/>
            <a:ext cx="287121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97696" y="1810512"/>
            <a:ext cx="237744" cy="23774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8" y="151790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  <a:ea typeface="Calibri"/>
              </a:rPr>
              <a:t>RECOMMEND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1792224"/>
            <a:ext cx="2240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Need + eligibility +
suitability + safety.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51392" y="2596896"/>
            <a:ext cx="287121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97696" y="3017520"/>
            <a:ext cx="237744" cy="23774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45168" y="27249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  <a:ea typeface="Calibri"/>
              </a:rPr>
              <a:t>ASSIST FIRST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5168" y="2999232"/>
            <a:ext cx="2240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Help before another
product is sold.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51392" y="3803904"/>
            <a:ext cx="287121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97696" y="4224528"/>
            <a:ext cx="237744" cy="237744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5168" y="393192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123C"/>
                </a:solidFill>
                <a:latin typeface="Calibri"/>
                <a:ea typeface="Calibri"/>
              </a:rPr>
              <a:t>SUPPRESS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5168" y="4206240"/>
            <a:ext cx="2240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The responsible action
is to show nothing.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51392" y="5010912"/>
            <a:ext cx="287121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997696" y="5431536"/>
            <a:ext cx="237744" cy="23774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45168" y="51389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Calibri"/>
                <a:ea typeface="Calibri"/>
              </a:rPr>
              <a:t>VERIFY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5413248"/>
            <a:ext cx="2240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Unusual activity —
ask the customer.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667512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  <a:ea typeface="Calibri"/>
              </a:rPr>
              <a:t>ARTHIX  ·  CTRL FREAKS  ·  Hackathon prototype  ·  Not RBI / DPDP certified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675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3A8A"/>
                </a:solidFill>
                <a:latin typeface="Calibri"/>
                <a:ea typeface="Calibri"/>
              </a:rPr>
              <a:t>1  / 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ARTHIX  ·  CTRL FREAKS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132B"/>
                </a:solidFill>
                <a:latin typeface="Calibri"/>
                <a:ea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A wellbeing-first intelligence layer that sits on existing banking journeys.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60704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60704"/>
            <a:ext cx="64008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1556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  <a:ea typeface="Calibri"/>
              </a:rPr>
              <a:t>WHAT WE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16736"/>
            <a:ext cx="38404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ARTHIX reads a consented ledger, builds a financial profile, ranks product candidates, then lets Vivek decide whether to recommend, assist, suppress, or verify — with a Nyay reason the customer can inspect.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5152" y="1060704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45152" y="1060704"/>
            <a:ext cx="64008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115568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  <a:ea typeface="Calibri"/>
              </a:rPr>
              <a:t>HOW IT ADDRESSES 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316736"/>
            <a:ext cx="33375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Same generic offer today reaches a first-time Gujarati user, a salaried Tier-2 professional, and a household missing EMI. ARTHIX personalizes the decision of whether to sell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8" y="1060704"/>
            <a:ext cx="3401568" cy="1417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11556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  <a:ea typeface="Calibri"/>
              </a:rPr>
              <a:t>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316736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Ethics is a runtime gate, not a PDF. Vivek is deterministic — no neural net can override stress, leverage, or revoked consent.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2615184"/>
            <a:ext cx="182880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2615184"/>
            <a:ext cx="1828800" cy="73152"/>
          </a:xfrm>
          <a:prstGeom prst="rect">
            <a:avLst/>
          </a:prstGeom>
          <a:solidFill>
            <a:srgbClr val="0F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70662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B"/>
                </a:solidFill>
                <a:latin typeface="Calibri"/>
                <a:ea typeface="Calibri"/>
              </a:rPr>
              <a:t>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962656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Consented
sample txs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03120" y="2999232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22576" y="2615184"/>
            <a:ext cx="182880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22576" y="2615184"/>
            <a:ext cx="182880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5728" y="270662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B"/>
                </a:solidFill>
                <a:latin typeface="Calibri"/>
                <a:ea typeface="Calibri"/>
              </a:rPr>
              <a:t>ArthBodh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2962656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Profile · DTI
runway · surplus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78224" y="2999232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2615184"/>
            <a:ext cx="182880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2615184"/>
            <a:ext cx="18288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270662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B"/>
                </a:solidFill>
                <a:latin typeface="Calibri"/>
                <a:ea typeface="Calibri"/>
              </a:rPr>
              <a:t>JeevanChakra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2962656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Ranks candidates
35/25/20/20 score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053328" y="2999232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72784" y="2615184"/>
            <a:ext cx="182880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2784" y="2615184"/>
            <a:ext cx="18288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270662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B"/>
                </a:solidFill>
                <a:latin typeface="Calibri"/>
                <a:ea typeface="Calibri"/>
              </a:rPr>
              <a:t>Vivek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962656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5 deterministic
gates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028432" y="2999232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47888" y="2615184"/>
            <a:ext cx="182880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47888" y="2615184"/>
            <a:ext cx="1828800" cy="731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70662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B"/>
                </a:solidFill>
                <a:latin typeface="Calibri"/>
                <a:ea typeface="Calibri"/>
              </a:rPr>
              <a:t>Nyay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962656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Consent · reasons
audit trail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003536" y="2999232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22992" y="2615184"/>
            <a:ext cx="182880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22992" y="2615184"/>
            <a:ext cx="1828800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6144" y="270662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B"/>
                </a:solidFill>
                <a:latin typeface="Calibri"/>
                <a:ea typeface="Calibri"/>
              </a:rPr>
              <a:t>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96144" y="2962656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Recommend /
Assist / Suppress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" y="3822191"/>
            <a:ext cx="3785615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95344"/>
            <a:ext cx="3639312" cy="19202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38912" y="5815584"/>
            <a:ext cx="3602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Rahul · Dashboard  ·  RECOMMEND SIP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7680" y="3822191"/>
            <a:ext cx="3785615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aha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3895344"/>
            <a:ext cx="3639312" cy="19202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389120" y="5815584"/>
            <a:ext cx="3602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Kamala · Sahara  ·  ASSIST FIRST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47888" y="3822191"/>
            <a:ext cx="3785615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hash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895344"/>
            <a:ext cx="3639312" cy="192024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39328" y="5815584"/>
            <a:ext cx="3602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BhashaSahayak  ·  Gujarati KYC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667512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  <a:ea typeface="Calibri"/>
              </a:rPr>
              <a:t>ARTHIX  ·  CTRL FREAKS  ·  Hackathon prototype  ·  Not RBI / DPDP certified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6675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3A8A"/>
                </a:solidFill>
                <a:latin typeface="Calibri"/>
                <a:ea typeface="Calibri"/>
              </a:rPr>
              <a:t>2  / 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ARTHIX  ·  CTRL FREAKS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132B"/>
                </a:solidFill>
                <a:latin typeface="Calibri"/>
                <a:ea typeface="Calibri"/>
              </a:rPr>
              <a:t>Technology Stack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What this repository actually runs — not a production wish-list.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60704"/>
            <a:ext cx="2560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60704"/>
            <a:ext cx="64008" cy="9875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33856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  <a:ea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353312"/>
            <a:ext cx="23042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  <a:ea typeface="Calibri"/>
              </a:rPr>
              <a:t>Next.js 14  ·  React 18
TypeScript  ·  Tailwind  ·  Lucide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060704"/>
            <a:ext cx="2560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060704"/>
            <a:ext cx="64008" cy="9875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133856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  <a:latin typeface="Calibri"/>
                <a:ea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353312"/>
            <a:ext cx="23042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  <a:ea typeface="Calibri"/>
              </a:rPr>
              <a:t>Next.js Route Handlers
+ optional Express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7568" y="1060704"/>
            <a:ext cx="2560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87568" y="1060704"/>
            <a:ext cx="64008" cy="9875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133856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  <a:ea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353312"/>
            <a:ext cx="23042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  <a:ea typeface="Calibri"/>
              </a:rPr>
              <a:t>SQLite via better-sqlite3
arthix.db auto-seeded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2139696"/>
            <a:ext cx="2560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2139696"/>
            <a:ext cx="64008" cy="9875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212848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5309"/>
                </a:solidFill>
                <a:latin typeface="Calibri"/>
                <a:ea typeface="Calibri"/>
              </a:rPr>
              <a:t>AI / ML (MVP)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2432304"/>
            <a:ext cx="23042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  <a:ea typeface="Calibri"/>
              </a:rPr>
              <a:t>Deterministic rules + ranking
Intent templates  ·  no LLM wired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2139696"/>
            <a:ext cx="2560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7520" y="2139696"/>
            <a:ext cx="64008" cy="9875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212848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2410C"/>
                </a:solidFill>
                <a:latin typeface="Calibri"/>
                <a:ea typeface="Calibri"/>
              </a:rPr>
              <a:t>AUTH / 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2432304"/>
            <a:ext cx="23042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  <a:ea typeface="Calibri"/>
              </a:rPr>
              <a:t>Demo persona session token
Masked accounts  ·  purpose consent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87568" y="2139696"/>
            <a:ext cx="25603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87568" y="2139696"/>
            <a:ext cx="64008" cy="987552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2212848"/>
            <a:ext cx="2304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123C"/>
                </a:solidFill>
                <a:latin typeface="Calibri"/>
                <a:ea typeface="Calibri"/>
              </a:rPr>
              <a:t>TESTS /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432304"/>
            <a:ext cx="23042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  <a:ea typeface="Calibri"/>
              </a:rPr>
              <a:t>tsx suites  ·  npm run dev :3000
npm run server :5000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3273552"/>
            <a:ext cx="7644383" cy="3182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3346704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  <a:ea typeface="Calibri"/>
              </a:rPr>
              <a:t>MVP RUNTIME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3694176"/>
            <a:ext cx="1115568" cy="9601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3749039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Customer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096512"/>
            <a:ext cx="10424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  <a:ea typeface="Calibri"/>
              </a:rPr>
              <a:t>UI / locale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591056" y="4041648"/>
            <a:ext cx="164592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37360" y="3694176"/>
            <a:ext cx="1115568" cy="9601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3749039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Next.js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73936" y="4096512"/>
            <a:ext cx="10424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  <a:ea typeface="Calibri"/>
              </a:rPr>
              <a:t>/  /login  /consent  /app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816352" y="4041648"/>
            <a:ext cx="164592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62656" y="3694176"/>
            <a:ext cx="1115568" cy="9601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62656" y="3749039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API /api/v1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4096512"/>
            <a:ext cx="10424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  <a:ea typeface="Calibri"/>
              </a:rPr>
              <a:t>15 REST routes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041648" y="4041648"/>
            <a:ext cx="164592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87952" y="3694176"/>
            <a:ext cx="1115568" cy="9601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87952" y="3749039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Services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4528" y="4096512"/>
            <a:ext cx="10424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  <a:ea typeface="Calibri"/>
              </a:rPr>
              <a:t>7 Sanskrit modules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266944" y="4041648"/>
            <a:ext cx="164592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3248" y="3694176"/>
            <a:ext cx="1115568" cy="9601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13248" y="3749039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SQLite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9824" y="4096512"/>
            <a:ext cx="10424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  <a:ea typeface="Calibri"/>
              </a:rPr>
              <a:t>Seeded ledgers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492240" y="4041648"/>
            <a:ext cx="164592" cy="14630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38544" y="3694176"/>
            <a:ext cx="1115568" cy="9601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38544" y="3749039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Vivek+Nyay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096512"/>
            <a:ext cx="10424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  <a:ea typeface="Calibri"/>
              </a:rPr>
              <a:t>Action + reasons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1  ArthBodh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" y="50109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Feature jobs on the sample ledger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59152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2  JeevanChakra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59152" y="50109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Ranks; does not decide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3  Vivek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0" y="50109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4-state decision gates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53328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4  BhashaSahayak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53328" y="50109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HI · GU · EN grounded chat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" y="548640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5  Sahara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" y="572414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Stress 0–100 · High → assist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59152" y="548640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6  Kavach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59152" y="572414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Rule anomaly · never freeze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06240" y="548640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7  Nyay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572414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  <a:ea typeface="Calibri"/>
              </a:rPr>
              <a:t>Consent · reasons · audit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38160" y="3273552"/>
            <a:ext cx="3694176" cy="3182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ny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3383280"/>
            <a:ext cx="3474720" cy="196596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247888" y="5376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Nyay  ·  inspectable ‘Why this?’ trail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47888" y="565099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5309"/>
                </a:solidFill>
                <a:latin typeface="Calibri"/>
                <a:ea typeface="Calibri"/>
              </a:rPr>
              <a:t>Not in this MVP: live CBS / UPI / CKYC / bureau, Isolation Forest, K-Means, LLM API, Docker, voice.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4048" y="667512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  <a:ea typeface="Calibri"/>
              </a:rPr>
              <a:t>ARTHIX  ·  CTRL FREAKS  ·  Hackathon prototype  ·  Not RBI / DPDP certified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24160" y="6675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3A8A"/>
                </a:solidFill>
                <a:latin typeface="Calibri"/>
                <a:ea typeface="Calibri"/>
              </a:rPr>
              <a:t>3  / 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ARTHIX  ·  CTRL FREAKS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132B"/>
                </a:solidFill>
                <a:latin typeface="Calibri"/>
                <a:ea typeface="Calibri"/>
              </a:rPr>
              <a:t>Feasibility, Challenges &amp; Risk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Honest prototype assessment against the implemented MVP.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60704"/>
            <a:ext cx="378561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3385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TECHNICAL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9192" y="115214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17043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444752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Seven modules, /api/v1, tests, and a runnable Next.js demo on sample ledgers.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60704"/>
            <a:ext cx="378561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13385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OPERATIONAL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15214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17043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DEMO-READY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444752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Persona login, consent, dashboard, and 5-minute judge path are implemented.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060704"/>
            <a:ext cx="378561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13385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ECONOMIC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79608" y="115214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79608" y="117043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LOW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444752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Local SQLite. No paid model API in the MVP. Fits a hackathon budget.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" y="2176272"/>
            <a:ext cx="378561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224942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SCALABILITY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9192" y="2267712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9192" y="2286000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CONTRACT-READY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2560320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Decision contract (profile in → action + reasons out) can swap SQLite later.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176272"/>
            <a:ext cx="378561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4" y="224942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2267712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286000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LOCAL / SIMPLE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4" y="2560320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npm run dev. No Docker in-repo. Production would need bank infra.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2176272"/>
            <a:ext cx="378561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224942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79608" y="2267712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9608" y="2286000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MOCKED RAILS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2560320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CBS, UPI, CKYC, OTP, DigiLocker, Google are honest demo adapters.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33101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CHALLENGE  →  RISK  →  MITIGATION     (each card reads left to right)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3602736"/>
            <a:ext cx="577900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Sample-ledger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22576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Quality depends on seeded txs, not live bureau.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9663" y="3657600"/>
            <a:ext cx="18470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Keep Vivek deterministic; label demo data; swap feature store later.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2784" y="3602736"/>
            <a:ext cx="577900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Mocked bank rails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Judges / users may read OTP/AA as live.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4975" y="3657600"/>
            <a:ext cx="18470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UI + README mark adapters as demo. Never claim live CBS/UPI.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" y="4553712"/>
            <a:ext cx="577900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4608576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AI accuracy / opacity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2576" y="4608576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Black-box scoring would be unauditable.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9663" y="4608576"/>
            <a:ext cx="18470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No NN for decisions. Rule codes + EN/HI/GU reasons + Nyay log.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72784" y="4553712"/>
            <a:ext cx="577900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608576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Consent / privacy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4608576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Financial data is sensitive; DPDP is statutory.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94975" y="4608576"/>
            <a:ext cx="18470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Purpose toggles, masked A/Cs, no PAN/Aadhaar stored, default-off model training.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7472" y="5504688"/>
            <a:ext cx="577900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" y="55595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Fraud false positives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22576" y="55595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Rule anomaly is a prototype, not a bank platform.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9663" y="5559552"/>
            <a:ext cx="18470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VERIFY with customer. Account is never auto-frozen.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72784" y="5504688"/>
            <a:ext cx="5779008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55595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Adoption / literacy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55595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English-first apps cause KYC drop-off.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94975" y="5559552"/>
            <a:ext cx="18470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HI/GU/EN assistant, large type, one primary action, empty-state as a feature.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667512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  <a:ea typeface="Calibri"/>
              </a:rPr>
              <a:t>ARTHIX  ·  CTRL FREAKS  ·  Hackathon prototype  ·  Not RBI / DPDP certified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0" y="6675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3A8A"/>
                </a:solidFill>
                <a:latin typeface="Calibri"/>
                <a:ea typeface="Calibri"/>
              </a:rPr>
              <a:t>4  / 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ARTHIX  ·  CTRL FREAKS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132B"/>
                </a:solidFill>
                <a:latin typeface="Calibri"/>
                <a:ea typeface="Calibri"/>
              </a:rP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Value shown on three seeded Bharat personas — not invented market statistics.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60704"/>
            <a:ext cx="3785615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60704"/>
            <a:ext cx="64008" cy="11155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  <a:ea typeface="Calibri"/>
              </a:rPr>
              <a:t>PRIMARY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353312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Retail bank customers in Tier 2/3/4 and rural Bharat — first-time digital, salaried, and cashflow-stressed households.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60704"/>
            <a:ext cx="3785615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060704"/>
            <a:ext cx="64008" cy="11155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115568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SECONDARY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353312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Bank relationship staff / future RM workstation who need an inspectable reason instead of a propensity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060704"/>
            <a:ext cx="3785615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060704"/>
            <a:ext cx="64008" cy="11155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115568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5309"/>
                </a:solidFill>
                <a:latin typeface="Calibri"/>
                <a:ea typeface="Calibri"/>
              </a:rPr>
              <a:t>STAKEHOLDERS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53312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Host bank (conduct + trust), regulators (explainability), and families protected from unsuitable credit.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2304288"/>
            <a:ext cx="221284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359152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596896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Vivek + Nyay
on consented context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487168" y="2670048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06624" y="2304288"/>
            <a:ext cx="221284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98064" y="2359152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IMMEDIATE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2596896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Right action now:
recommend / assist / stop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846320" y="2670048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65776" y="2304288"/>
            <a:ext cx="221284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2359152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2596896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Dignity, vernacular
help, inspectable why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205472" y="2670048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24928" y="2304288"/>
            <a:ext cx="221284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8" y="2359152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ORGANISATION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2596896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Conduct risk ↓
trustworthy personalization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564624" y="2670048"/>
            <a:ext cx="201168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84080" y="2304288"/>
            <a:ext cx="2212848" cy="1024128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2359152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766E"/>
                </a:solidFill>
                <a:latin typeface="Calibri"/>
                <a:ea typeface="Calibri"/>
              </a:rPr>
              <a:t>BHARAT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596896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Fewer harmful loans;
better-timed suitable products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3474720"/>
            <a:ext cx="5779008" cy="2980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5478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BEFORE  vs  AFTER  (same engine, three ledgers)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877056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Meena  ·  first digital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84831" y="3877056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57984" y="3950208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E123C"/>
                </a:solidFill>
                <a:latin typeface="Calibri"/>
                <a:ea typeface="Calibri"/>
              </a:rPr>
              <a:t>English jargon KYC drop-off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96512" y="3877056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9663" y="3950208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Gujarati assist. No product dump.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" y="468172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Rahul  ·  surplus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84831" y="4681728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57984" y="4754880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E123C"/>
                </a:solidFill>
                <a:latin typeface="Calibri"/>
                <a:ea typeface="Calibri"/>
              </a:rPr>
              <a:t>Offer fatigue / ULIP push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96512" y="4681728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9663" y="4754880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₹3,000 Direct Nifty 50 SIP + Why this?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" y="5486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132B"/>
                </a:solidFill>
                <a:latin typeface="Calibri"/>
                <a:ea typeface="Calibri"/>
              </a:rPr>
              <a:t>Kamala  ·  stress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84831" y="5486400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57984" y="5559552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E123C"/>
                </a:solidFill>
                <a:latin typeface="Calibri"/>
                <a:ea typeface="Calibri"/>
              </a:rPr>
              <a:t>High-APR credit + collections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96512" y="5486400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9663" y="5559552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  <a:ea typeface="Calibri"/>
              </a:rPr>
              <a:t>Credit suppressed. 60-day EMI relief path.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72784" y="3474720"/>
            <a:ext cx="5559552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37376" y="3547872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8132B"/>
                </a:solidFill>
                <a:latin typeface="Calibri"/>
                <a:ea typeface="Calibri"/>
              </a:rPr>
              <a:t>₹15,120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3566160"/>
            <a:ext cx="3566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Rahul monthly surplus
(seeded ledger)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72784" y="4224528"/>
            <a:ext cx="5559552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4297680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8132B"/>
                </a:solidFill>
                <a:latin typeface="Calibri"/>
                <a:ea typeface="Calibri"/>
              </a:rPr>
              <a:t>16.3%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4315968"/>
            <a:ext cx="3566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Rahul DTI  ·  gate &lt; 35%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72784" y="4974336"/>
            <a:ext cx="5559552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37376" y="504748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8132B"/>
                </a:solidFill>
                <a:latin typeface="Calibri"/>
                <a:ea typeface="Calibri"/>
              </a:rPr>
              <a:t>82 / 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0" y="5065776"/>
            <a:ext cx="3566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Kamala Sahara stress
HIGH band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72784" y="5724144"/>
            <a:ext cx="5559552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7376" y="5797296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8132B"/>
                </a:solidFill>
                <a:latin typeface="Calibri"/>
                <a:ea typeface="Calibri"/>
              </a:rPr>
              <a:t>3 langs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5815584"/>
            <a:ext cx="3566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Hindi · Gujarati · English
(text MVP, not voice)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8" y="667512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  <a:ea typeface="Calibri"/>
              </a:rPr>
              <a:t>ARTHIX  ·  CTRL FREAKS  ·  Hackathon prototype  ·  Not RBI / DPDP certified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24160" y="6675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3A8A"/>
                </a:solidFill>
                <a:latin typeface="Calibri"/>
                <a:ea typeface="Calibri"/>
              </a:rPr>
              <a:t>5  /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  <a:ea typeface="Calibri"/>
              </a:rPr>
              <a:t>ARTHIX  ·  CTRL FREAKS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8132B"/>
                </a:solidFill>
                <a:latin typeface="Calibri"/>
                <a:ea typeface="Calibri"/>
              </a:rPr>
              <a:t>References &amp; Research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  <a:ea typeface="Calibri"/>
              </a:rPr>
              <a:t>Sources actually used in the prototype. No project-report PDF was present in the workspace.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060704"/>
            <a:ext cx="5779008" cy="5394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1338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OFFICIAL &amp; REGULATORY  (cited in Vivek / Nyay)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44752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4ED8"/>
                </a:solidFill>
                <a:latin typeface="Calibri"/>
                <a:ea typeface="Calibri"/>
                <a:hlinkClick r:id="rId2"/>
              </a:rPr>
              <a:t>1.  DPDP Act, 2023 — purpose-level 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0078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Consent gate; model-improvement defaults to revoked.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31136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4ED8"/>
                </a:solidFill>
                <a:latin typeface="Calibri"/>
                <a:ea typeface="Calibri"/>
                <a:hlinkClick r:id="rId3"/>
              </a:rPr>
              <a:t>2.  RBI NBFC-Account Aggregator Master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8716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Consent-artifact pattern; AA UI is a mocked adapter in MVP.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3017520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4ED8"/>
                </a:solidFill>
                <a:latin typeface="Calibri"/>
                <a:ea typeface="Calibri"/>
                <a:hlinkClick r:id="rId4"/>
              </a:rPr>
              <a:t>3.  RBI Guidelines on Digital Lending,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7355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Cited when suppressing aggressive unsecured credit under stress.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803904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4ED8"/>
                </a:solidFill>
                <a:latin typeface="Calibri"/>
                <a:ea typeface="Calibri"/>
                <a:hlinkClick r:id="rId5"/>
              </a:rPr>
              <a:t>4.  RBI Digital Lending Directions, 2025 (consolidation)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05993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Production direction — not claimed as MVP certification.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4590288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4ED8"/>
                </a:solidFill>
                <a:latin typeface="Calibri"/>
                <a:ea typeface="Calibri"/>
                <a:hlinkClick r:id="rId6"/>
              </a:rPr>
              <a:t>5.  SEBI — Investment Advisers / direct-plan 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4632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Zero-commission Direct Nifty 50 SIP in the catalogue.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5376672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4ED8"/>
                </a:solidFill>
                <a:latin typeface="Calibri"/>
                <a:ea typeface="Calibri"/>
                <a:hlinkClick r:id="rId7"/>
              </a:rPr>
              <a:t>6.  RBI KYC Master Direction (guidance only in chat)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63270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  <a:ea typeface="Calibri"/>
              </a:rPr>
              <a:t>BhashaSahayak KYC help is a checklist, not live CKYC.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1060704"/>
            <a:ext cx="555955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1133856"/>
            <a:ext cx="5230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RESEARCH PERFORMED IN THIS REPO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408176"/>
            <a:ext cx="52303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•  Studied generic campaign / chatbot / separate-fraud stacks vs one fiduciary spine.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•  Mapped three Bharat personas (Meena, Rahul, Kamala) to seeded ledgers.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•  Chose rules over neural nets so a judge can replay every gate.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  <a:ea typeface="Calibri"/>
              </a:rPr>
              <a:t>•  K-Means, Isolation Forest, and LLM API remain documented production extensions — not shipped models.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3511296"/>
            <a:ext cx="3703320" cy="2944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584448"/>
            <a:ext cx="3401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TECHNICAL 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877056"/>
            <a:ext cx="340156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D4ED8"/>
                </a:solidFill>
                <a:latin typeface="Calibri"/>
                <a:ea typeface="Calibri"/>
                <a:hlinkClick r:id="rId8"/>
              </a:rPr>
              <a:t>→  Next.js 14 App Router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D4ED8"/>
                </a:solidFill>
                <a:latin typeface="Calibri"/>
                <a:ea typeface="Calibri"/>
                <a:hlinkClick r:id="rId9"/>
              </a:rPr>
              <a:t>→  Express 5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D4ED8"/>
                </a:solidFill>
                <a:latin typeface="Calibri"/>
                <a:ea typeface="Calibri"/>
                <a:hlinkClick r:id="rId10"/>
              </a:rPr>
              <a:t>→  better-sqlite3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D4ED8"/>
                </a:solidFill>
                <a:latin typeface="Calibri"/>
                <a:ea typeface="Calibri"/>
                <a:hlinkClick r:id="rId11"/>
              </a:rPr>
              <a:t>→  Tailwind CSS 3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D4ED8"/>
                </a:solidFill>
                <a:latin typeface="Calibri"/>
                <a:ea typeface="Calibri"/>
                <a:hlinkClick r:id="rId12"/>
              </a:rPr>
              <a:t>→  ARTHIX GitHub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  <a:ea typeface="Calibri"/>
              </a:rPr>
              <a:t>→  Project README / constitution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3511296"/>
            <a:ext cx="1728216" cy="2944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ithub-q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59568" y="3675887"/>
            <a:ext cx="1417320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68128" y="5138928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132B"/>
                </a:solidFill>
                <a:latin typeface="Calibri"/>
                <a:ea typeface="Calibri"/>
              </a:rPr>
              <a:t>Scan repo
AumPethani05
/Arthix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7512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  <a:ea typeface="Calibri"/>
              </a:rPr>
              <a:t>ARTHIX  ·  CTRL FREAKS  ·  Hackathon prototype  ·  Not RBI / DPDP certified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75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3A8A"/>
                </a:solidFill>
                <a:latin typeface="Calibri"/>
                <a:ea typeface="Calibri"/>
              </a:rPr>
              <a:t>6  /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